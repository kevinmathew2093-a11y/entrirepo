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Air Quality Analytics: Executive Overview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</a:defRPr>
            </a:pPr>
            <a:r>
              <a:t>• Domain: Environmental Analytics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</a:defRPr>
            </a:pPr>
            <a:r>
              <a:t>• Problem Statement: Air pollution poses critical public health risks. Analyzing real-time environmental monitoring data helps identify key pollution spikes to support targeted interventions.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</a:defRPr>
            </a:pPr>
            <a:r>
              <a:t>• Dataset Footprint: 3,353 records across 15 clean, structured features covering state, station location, timestamps, and core pollutant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423160"/>
            <a:ext cx="8412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300"/>
              </a:spcAft>
              <a:defRPr sz="90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import pandas as pd, numpy as np: Imports numerical and data manipulation toolkits.</a:t>
            </a:r>
            <a:br/>
            <a:r>
              <a:t>• df = pd.read_csv(...): Reads the external CSV file into a memory DataFrame.</a:t>
            </a:r>
            <a:br/>
            <a:r>
              <a:t>• print(df.shape, df.info()): Inspects total row/column counts and data types.</a:t>
            </a:r>
          </a:p>
          <a:p>
            <a:pPr>
              <a:defRPr sz="850">
                <a:solidFill>
                  <a:srgbClr val="1E1E1E"/>
                </a:solidFill>
                <a:latin typeface="Consolas"/>
              </a:defRPr>
            </a:pPr>
            <a:r>
              <a:t># Task 1: Setup &amp; Data Loading</a:t>
            </a:r>
            <a:br/>
            <a:r>
              <a:t>import pandas as pd, numpy as np # Import core libraries</a:t>
            </a:r>
            <a:br/>
            <a:r>
              <a:t>df = pd.read_csv('air_quality.csv') # Load CSV dataset into DataFrame</a:t>
            </a:r>
            <a:br/>
            <a:r>
              <a:t>print(df.shape, df.info()) # Print dimensions and column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Task 2: Data Cleaning, Imputation &amp; Pre-processing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</a:defRPr>
            </a:pPr>
            <a:r>
              <a:t>• Missing Values &amp; Imputation: Identified 388 missing records in core metrics. Applied contextual group median transformation (by station and pollutant) to fill gaps realistically without causing data loss.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</a:defRPr>
            </a:pPr>
            <a:r>
              <a:t>• Data Formatting: Verified zero duplicate rows and converted string timestamps to active datetime objects for chronological alignment.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423160"/>
            <a:ext cx="8412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300"/>
              </a:spcAft>
              <a:defRPr sz="90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drop_duplicates(): Eliminates exact duplicate records to prevent skew.</a:t>
            </a:r>
            <a:br/>
            <a:r>
              <a:t>• pd.to_datetime(): Parses string dates into active datetime format.</a:t>
            </a:r>
            <a:br/>
            <a:r>
              <a:t>• groupby(...).transform(fillna): Fills missing values with localized group medians.</a:t>
            </a:r>
          </a:p>
          <a:p>
            <a:pPr>
              <a:defRPr sz="850">
                <a:solidFill>
                  <a:srgbClr val="1E1E1E"/>
                </a:solidFill>
                <a:latin typeface="Consolas"/>
              </a:defRPr>
            </a:pPr>
            <a:r>
              <a:t># Task 2: Cleaning &amp; Imputation</a:t>
            </a:r>
            <a:br/>
            <a:r>
              <a:t>df.drop_duplicates(inplace=True) # Remove redundant duplicate rows</a:t>
            </a:r>
            <a:br/>
            <a:r>
              <a:t>df['timestamp'] = pd.to_datetime(df['timestamp']) # Convert string dates to datetimes</a:t>
            </a:r>
            <a:br/>
            <a:r>
              <a:t>df['pollutant_avg'] = df.groupby(['station', 'pollutant_id'])['pollutant_avg'].transform(lambda x: x.fillna(x.median())) # Impute group medians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Graph 1 – Distribution of Average Pollution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What it shows: A right-skewed distribution curve showing that most recorded pollution values sit between 0 and 100.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Pitch: This examines the overall distribution of average pollutant values. The positive skew highlights that while most locations operate within moderate ranges, localized anomalies cause significant right-tail spikes.</a:t>
            </a:r>
          </a:p>
        </p:txBody>
      </p:sp>
      <p:pic>
        <p:nvPicPr>
          <p:cNvPr id="4" name="Picture 3" descr="grap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1460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200"/>
              </a:spcAft>
              <a:defRPr sz="85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plt.figure(): Initializes a plotting window of specified dimensions.</a:t>
            </a:r>
            <a:br/>
            <a:r>
              <a:t>• sns.histplot(..., kde=True): Plots frequency bins with an overlaid smooth density curve.</a:t>
            </a:r>
            <a:br/>
            <a:r>
              <a:t>• plt.title(): Assigns a descriptive chart title.</a:t>
            </a:r>
          </a:p>
          <a:p>
            <a:pPr>
              <a:defRPr sz="800">
                <a:solidFill>
                  <a:srgbClr val="1E1E1E"/>
                </a:solidFill>
                <a:latin typeface="Consolas"/>
              </a:defRPr>
            </a:pPr>
            <a:r>
              <a:t># Graph 1: Univariate distribution</a:t>
            </a:r>
            <a:br/>
            <a:r>
              <a:t>plt.figure(figsize=(6, 3.2)) # Set figure canvas size</a:t>
            </a:r>
            <a:br/>
            <a:r>
              <a:t>sns.histplot(cleaned_df['pollutant_avg'], kde=True, color='crimson', bins=30) # Plot histogram with KDE</a:t>
            </a:r>
            <a:br/>
            <a:r>
              <a:t>plt.title('Distribution of Average Pollution Levels') # Add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Graph 2 – Breakdown of Air Quality Risk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What it shows: A categorical frequency bar chart quantifying records in Good/Satisfactory, Moderate, and Poor/Severe bands.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Pitch: Graph 2 categorizes our continuous pollution averages into health safety tiers, allowing us to instantly measure the proportion of monitoring events requiring public health warnings.</a:t>
            </a:r>
          </a:p>
        </p:txBody>
      </p:sp>
      <p:pic>
        <p:nvPicPr>
          <p:cNvPr id="4" name="Picture 3" descr="grap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1460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200"/>
              </a:spcAft>
              <a:defRPr sz="85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order = [...]: Sets a logical sequence for health risk categories.</a:t>
            </a:r>
            <a:br/>
            <a:r>
              <a:t>• sns.countplot(..., order=order): Tallies category frequencies and plots them in the defined order.</a:t>
            </a:r>
          </a:p>
          <a:p>
            <a:pPr>
              <a:defRPr sz="800">
                <a:solidFill>
                  <a:srgbClr val="1E1E1E"/>
                </a:solidFill>
                <a:latin typeface="Consolas"/>
              </a:defRPr>
            </a:pPr>
            <a:r>
              <a:t># Graph 2: Risk category counts</a:t>
            </a:r>
            <a:br/>
            <a:r>
              <a:t>order = ['Good/Satisfactory', 'Moderate', 'Poor/Severe'] # Define category sequence</a:t>
            </a:r>
            <a:br/>
            <a:r>
              <a:t>sns.countplot(data=cleaned_df, x='air_quality_category', order=order, palette='Set2') # Render count bar 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Graph 3 – Distribution of Monitored Pollutant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What it shows: A horizontal bar chart ranking the tracking frequency of distinct pollutant parameters.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Pitch: This confirms that primary monitoring coverage centers around major ambient markers such as PM2.5 and PM10.</a:t>
            </a:r>
          </a:p>
        </p:txBody>
      </p:sp>
      <p:pic>
        <p:nvPicPr>
          <p:cNvPr id="4" name="Picture 3" descr="grap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1460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200"/>
              </a:spcAft>
              <a:defRPr sz="85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value_counts().index: Extracts pollutant names sorted by highest occurrence.</a:t>
            </a:r>
            <a:br/>
            <a:r>
              <a:t>• sns.countplot(y=...): Renders horizontal bars ranked by frequency.</a:t>
            </a:r>
          </a:p>
          <a:p>
            <a:pPr>
              <a:defRPr sz="800">
                <a:solidFill>
                  <a:srgbClr val="1E1E1E"/>
                </a:solidFill>
                <a:latin typeface="Consolas"/>
              </a:defRPr>
            </a:pPr>
            <a:r>
              <a:t># Graph 3: Pollutant type frequencies</a:t>
            </a:r>
            <a:br/>
            <a:r>
              <a:t>freq_idx = cleaned_df['pollutant_id'].value_counts().index # Get descending frequency index</a:t>
            </a:r>
            <a:br/>
            <a:r>
              <a:t>sns.countplot(data=cleaned_df, y='pollutant_id', order=freq_idx, palette='Blues_r') # Plot horizontal count bars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Graph 4 – Top 10 Most Polluted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What it shows: A ranked bar chart displaying the top 10 states with the highest overall average pollution concentrations.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Pitch: This bivariate analysis links spatial locations to mean pollution intensity, isolating high-priority geographic zones.</a:t>
            </a:r>
          </a:p>
        </p:txBody>
      </p:sp>
      <p:pic>
        <p:nvPicPr>
          <p:cNvPr id="4" name="Picture 3" descr="graph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1460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200"/>
              </a:spcAft>
              <a:defRPr sz="85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groupby('state')[...].mean(): Computes average pollution per state.</a:t>
            </a:r>
            <a:br/>
            <a:r>
              <a:t>• .nlargest(10).reset_index(): Filters the top 10 highest values.</a:t>
            </a:r>
            <a:br/>
            <a:r>
              <a:t>• sns.barplot(...): Renders horizontal ranking bars.</a:t>
            </a:r>
          </a:p>
          <a:p>
            <a:pPr>
              <a:defRPr sz="800">
                <a:solidFill>
                  <a:srgbClr val="1E1E1E"/>
                </a:solidFill>
                <a:latin typeface="Consolas"/>
              </a:defRPr>
            </a:pPr>
            <a:r>
              <a:t># Graph 4: Top 10 states by mean pollution</a:t>
            </a:r>
            <a:br/>
            <a:r>
              <a:t>top_states = cleaned_df.groupby('state')['pollutant_avg'].mean().nlargest(10).reset_index() # Group and get top 10</a:t>
            </a:r>
            <a:br/>
            <a:r>
              <a:t>sns.barplot(data=top_states, x='pollutant_avg', y='state', palette='Reds_r') # Plot horizontal bar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Graph 5 – Hourly Pollution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What it shows: A temporal line chart tracking average pollution fluctuations across the 24-hour daily cycle.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Pitch: Peak concentrations align with high-traffic morning and evening commute windows, demonstrating clear temporal influence.</a:t>
            </a:r>
          </a:p>
        </p:txBody>
      </p:sp>
      <p:pic>
        <p:nvPicPr>
          <p:cNvPr id="4" name="Picture 3" descr="graph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1460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200"/>
              </a:spcAft>
              <a:defRPr sz="85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sns.lineplot(...): Connects chronological points across hours.</a:t>
            </a:r>
            <a:br/>
            <a:r>
              <a:t>• marker='o': Places circular data points on each hour.</a:t>
            </a:r>
            <a:br/>
            <a:r>
              <a:t>• errorbar=None: Disables standard error confidence bands.</a:t>
            </a:r>
          </a:p>
          <a:p>
            <a:pPr>
              <a:defRPr sz="800">
                <a:solidFill>
                  <a:srgbClr val="1E1E1E"/>
                </a:solidFill>
                <a:latin typeface="Consolas"/>
              </a:defRPr>
            </a:pPr>
            <a:r>
              <a:t># Graph 5: Hourly diurnal trend line</a:t>
            </a:r>
            <a:br/>
            <a:r>
              <a:t>sns.lineplot(data=cleaned_df, x='update_hour', y='pollutant_avg', marker='o', color='darkorange', errorbar=None) # Plot time series 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Graph 6 – Pollution Volatility Range by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What it shows: Box plots illustrating the variance and extreme spikes across each individual pollutant category.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Pitch: Using our engineered pollutant_range feature, this reveals which specific pollutants experience severe intraday spikes.</a:t>
            </a:r>
          </a:p>
        </p:txBody>
      </p:sp>
      <p:pic>
        <p:nvPicPr>
          <p:cNvPr id="4" name="Picture 3" descr="graph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1460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200"/>
              </a:spcAft>
              <a:defRPr sz="85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sns.boxplot(...): Displays data spread, median, quartiles, and outliers.</a:t>
            </a:r>
            <a:br/>
            <a:r>
              <a:t>• plt.xticks(rotation=30): Angles x-axis labels to prevent text overlap.</a:t>
            </a:r>
          </a:p>
          <a:p>
            <a:pPr>
              <a:defRPr sz="800">
                <a:solidFill>
                  <a:srgbClr val="1E1E1E"/>
                </a:solidFill>
                <a:latin typeface="Consolas"/>
              </a:defRPr>
            </a:pPr>
            <a:r>
              <a:t># Graph 6: Volatility box plot</a:t>
            </a:r>
            <a:br/>
            <a:r>
              <a:t>sns.boxplot(data=cleaned_df, x='pollutant_id', y='pollutant_range', palette='Set3') # Render statistical box plots</a:t>
            </a:r>
            <a:br/>
            <a:r>
              <a:t>plt.xticks(rotation=30) # Rotate category labels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Graph 7 – Day of Week Pollution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What it shows: A day-by-day comparison chart assessing pollution differences between business weekdays and weekends.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Pitch: Comparing weekday vs. weekend concentrations helps isolate industrial and transport emissions from baseline natural levels.</a:t>
            </a:r>
          </a:p>
        </p:txBody>
      </p:sp>
      <p:pic>
        <p:nvPicPr>
          <p:cNvPr id="4" name="Picture 3" descr="graph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1460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200"/>
              </a:spcAft>
              <a:defRPr sz="85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day_order = [...]: Establishes chronological weekday sorting.</a:t>
            </a:r>
            <a:br/>
            <a:r>
              <a:t>• sns.barplot(..., order=day_order): Compares mean pollutant levels across days.</a:t>
            </a:r>
          </a:p>
          <a:p>
            <a:pPr>
              <a:defRPr sz="800">
                <a:solidFill>
                  <a:srgbClr val="1E1E1E"/>
                </a:solidFill>
                <a:latin typeface="Consolas"/>
              </a:defRPr>
            </a:pPr>
            <a:r>
              <a:t># Graph 7: Day of week analysis</a:t>
            </a:r>
            <a:br/>
            <a:r>
              <a:t>day_order = ['Monday', 'Tuesday', 'Wednesday', 'Thursday', 'Friday', 'Saturday', 'Sunday']</a:t>
            </a:r>
            <a:br/>
            <a:r>
              <a:t>sns.barplot(data=cleaned_df, x='update_day_of_week', y='pollutant_avg', order=day_order, palette='viridis', errorbar=None)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Graph 8 – Risk Category Proportion per Pollutant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What it shows: A 100% stacked bar chart showing the relative proportion of safety categories contributed by each pollutant.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Pitch: This shows that fine particulate matter (PM2.5/PM10) accounts for a disproportionate share of Poor/Severe classifications.</a:t>
            </a:r>
          </a:p>
        </p:txBody>
      </p:sp>
      <p:pic>
        <p:nvPicPr>
          <p:cNvPr id="4" name="Picture 3" descr="graph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1460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200"/>
              </a:spcAft>
              <a:defRPr sz="85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pd.crosstab(normalize='index'): Computes row-wise percentage distribution.</a:t>
            </a:r>
            <a:br/>
            <a:r>
              <a:t>• ct.plot(kind='bar', stacked=True): Layers sub-categories into unified vertical bars.</a:t>
            </a:r>
          </a:p>
          <a:p>
            <a:pPr>
              <a:defRPr sz="800">
                <a:solidFill>
                  <a:srgbClr val="1E1E1E"/>
                </a:solidFill>
                <a:latin typeface="Consolas"/>
              </a:defRPr>
            </a:pPr>
            <a:r>
              <a:t># Graph 8: Stacked risk proportion</a:t>
            </a:r>
            <a:br/>
            <a:r>
              <a:t>ct = pd.crosstab(cleaned_df['pollutant_id'], cleaned_df['air_quality_category'], normalize='index') * 100 # Compute percentages</a:t>
            </a:r>
            <a:br/>
            <a:r>
              <a:t>ct.plot(kind='bar', stacked=True, colormap='YlOrRd') # Plot stacked bar chart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Graph 9 – Correlation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What it shows: A color-coded numerical correlation grid quantifying linear relationships.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Pitch: The strong positive correlation between average levels and range confirms that higher baseline pollution levels directly scale with environmental volatility.</a:t>
            </a:r>
          </a:p>
        </p:txBody>
      </p:sp>
      <p:pic>
        <p:nvPicPr>
          <p:cNvPr id="4" name="Picture 3" descr="graph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1460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200"/>
              </a:spcAft>
              <a:defRPr sz="85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.corr(): Calculates pairwise correlation coefficients between features.</a:t>
            </a:r>
            <a:br/>
            <a:r>
              <a:t>• sns.heatmap(..., annot=True): Displays a color grid with numeric values inside cells.</a:t>
            </a:r>
          </a:p>
          <a:p>
            <a:pPr>
              <a:defRPr sz="800">
                <a:solidFill>
                  <a:srgbClr val="1E1E1E"/>
                </a:solidFill>
                <a:latin typeface="Consolas"/>
              </a:defRPr>
            </a:pPr>
            <a:r>
              <a:t># Graph 9: Correlation matrix heatmap</a:t>
            </a:r>
            <a:br/>
            <a:r>
              <a:t>corr_matrix = cleaned_df[['pollutant_min', 'pollutant_max', 'pollutant_avg', 'pollutant_range']].corr() # Compute correlation</a:t>
            </a:r>
            <a:br/>
            <a:r>
              <a:t>sns.heatmap(corr_matrix, annot=True, cmap='coolwarm', fmt='.2f') # Render heatmap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Graph 10 – Spatial Distribution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What it shows: A coordinate scatter plot mapping monitoring stations geographically.</a:t>
            </a:r>
          </a:p>
          <a:p>
            <a:pPr>
              <a:spcAft>
                <a:spcPts val="300"/>
              </a:spcAft>
              <a:defRPr sz="1000">
                <a:solidFill>
                  <a:srgbClr val="282828"/>
                </a:solidFill>
              </a:defRPr>
            </a:pPr>
            <a:r>
              <a:t>• Pitch: This multi-variable map highlights regional cluster hot-spots across monitoring zones using latitude and longitude.</a:t>
            </a:r>
          </a:p>
        </p:txBody>
      </p:sp>
      <p:pic>
        <p:nvPicPr>
          <p:cNvPr id="4" name="Picture 3" descr="graph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9436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1460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200"/>
              </a:spcAft>
              <a:defRPr sz="85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sns.scatterplot(...): Maps latitude and longitude coordinates.</a:t>
            </a:r>
            <a:br/>
            <a:r>
              <a:t>• hue='pollutant_avg': Color-codes points by pollution severity.</a:t>
            </a:r>
            <a:br/>
            <a:r>
              <a:t>• size='pollutant_range': Scales bubble sizes by intraday volatility.</a:t>
            </a:r>
          </a:p>
          <a:p>
            <a:pPr>
              <a:defRPr sz="800">
                <a:solidFill>
                  <a:srgbClr val="1E1E1E"/>
                </a:solidFill>
                <a:latin typeface="Consolas"/>
              </a:defRPr>
            </a:pPr>
            <a:r>
              <a:t># Graph 10: Geospatial scatter plot</a:t>
            </a:r>
            <a:br/>
            <a:r>
              <a:t>sns.scatterplot(data=cleaned_df, x='longitude', y='latitude', hue='pollutant_avg', size='pollutant_range', palette='magma')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Key Project Insights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</a:defRPr>
            </a:pPr>
            <a:r>
              <a:t>1. Particulate Dominance: PM2.5 and PM10 constitute the primary drivers of degraded air quality.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</a:defRPr>
            </a:pPr>
            <a:r>
              <a:t>2. Diurnal Peak Windows: Major spikes are recorded during early morning (7-9 AM) and evening (6-9 PM) hours.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</a:defRPr>
            </a:pPr>
            <a:r>
              <a:t>3. Geographic Cluster Variance: The top 3 polluted states exhibit mean concentrations significantly above the national median.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</a:defRPr>
            </a:pPr>
            <a:r>
              <a:t>4. Volatility Coupling: Heavily polluted areas also suffer from greater intraday volatility.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</a:defRPr>
            </a:pPr>
            <a:r>
              <a:t>5. Imputation Integrity: Contextual median group-transformation successfully preserved underlying data variance.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423160"/>
            <a:ext cx="8412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505050"/>
                </a:solidFill>
              </a:defRPr>
            </a:pPr>
            <a:r>
              <a:t>Python Code &amp; Line-by-Line Breakdown:</a:t>
            </a:r>
          </a:p>
          <a:p>
            <a:pPr>
              <a:spcAft>
                <a:spcPts val="300"/>
              </a:spcAft>
              <a:defRPr sz="900" b="1">
                <a:solidFill>
                  <a:srgbClr val="0050A0"/>
                </a:solidFill>
              </a:defRPr>
            </a:pPr>
            <a:r>
              <a:t>Line-by-Line Breakdown:</a:t>
            </a:r>
            <a:br/>
            <a:r>
              <a:t>• Pipeline Finalization: Synthesizes analytical findings, statistical outcomes, and data cleaning validation into final documentation.</a:t>
            </a:r>
          </a:p>
          <a:p>
            <a:pPr>
              <a:defRPr sz="850">
                <a:solidFill>
                  <a:srgbClr val="1E1E1E"/>
                </a:solidFill>
                <a:latin typeface="Consolas"/>
              </a:defRPr>
            </a:pPr>
            <a:r>
              <a:t># Task 4: Summary &amp; Insights Generation</a:t>
            </a:r>
            <a:br/>
            <a:r>
              <a:t># Final documentation of analytical findings, metrics, and conclusions.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